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2668" y="58207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 dirty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39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 dirty="0">
                <a:solidFill>
                  <a:srgbClr val="FFFFFF"/>
                </a:solidFill>
                <a:latin typeface="Calibri"/>
              </a:rPr>
              <a:t>CHAIN GUARD</a:t>
            </a:r>
          </a:p>
          <a:p>
            <a:pPr algn="l"/>
            <a:r>
              <a:rPr sz="6000" b="1" dirty="0">
                <a:solidFill>
                  <a:srgbClr val="3B82F6"/>
                </a:solidFill>
                <a:latin typeface="Calibri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2769" y="326440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BD5E1"/>
                </a:solidFill>
                <a:latin typeface="Calibri"/>
              </a:rPr>
              <a:t>AI-Powered Supply Chain Risk Intelligence &amp; Fleet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2769" y="36118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94A3B8"/>
                </a:solidFill>
                <a:latin typeface="Calibri"/>
              </a:rPr>
              <a:t>Autonomous Logistics Control Tower  ·  Real-Time Disruption Resolution  ·  Cold-Chain Protection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77639"/>
            <a:ext cx="8229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Team Axiom   |   Mahi Patel, Team Lead   |   IBM Bob AI Innovation Hackathon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63440"/>
            <a:ext cx="82296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672583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Python 3.12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4663440"/>
            <a:ext cx="82296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15768" y="4672583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React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696" y="4663440"/>
            <a:ext cx="82296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1416" y="4672583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OR-Tools MILP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4663440"/>
            <a:ext cx="82296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27064" y="4672583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IBM Bob/watsonx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6992" y="4663440"/>
            <a:ext cx="82296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82712" y="4672583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FDA 21 CFR 211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400800"/>
            <a:ext cx="11777472" cy="45720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Hackathon Branch: feature/ai-optimization   ·   github.com/mahipatel1126/bob-ai-hackathon-Axiom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56032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Why supply chains fail — and why current tools cannot keep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73968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Chain Guard AI  |  IBM Bob AI Innovation Hackathon 2026  |  Team Axiom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577840" cy="1325880"/>
          </a:xfrm>
          <a:prstGeom prst="rect">
            <a:avLst/>
          </a:prstGeom>
          <a:solidFill>
            <a:srgbClr val="1E293B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⛈️  Disruption Cascades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Severe weather, port strikes &amp; corridor accidents stall freight with zero proactive warning. Cascading delays compound across downstream hubs.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98448"/>
            <a:ext cx="5577840" cy="1325880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🚛  Idle Fleet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73736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25–40% of regional fleet assets sit idle or underutilised. No automated mechanism exists to redeploy reefer trucks to distressed routes.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79776"/>
            <a:ext cx="5577840" cy="1325880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8712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🌡️  Perishable Cargo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Cold-chain failures in pharma logistics (vaccines, oncology biologics) cause billions in spoilage. Thermal breaches go undetected until delivery.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779776"/>
            <a:ext cx="5577840" cy="1325880"/>
          </a:xfrm>
          <a:prstGeom prst="rect">
            <a:avLst/>
          </a:prstGeom>
          <a:solidFill>
            <a:srgbClr val="1E293B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8712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⏱️  Operational 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18688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Human dispatchers take 4+ hours to manually cross-reference weather alerts, carrier availability, and replacement equipment — far too slow.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15968"/>
            <a:ext cx="11173968" cy="822960"/>
          </a:xfrm>
          <a:prstGeom prst="rect">
            <a:avLst/>
          </a:prstGeom>
          <a:solidFill>
            <a:srgbClr val="1E293B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3708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  <a:latin typeface="Calibri"/>
              </a:rPr>
              <a:t>$950B+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000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Annual global supply chain disruption costs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3708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  <a:latin typeface="Calibri"/>
              </a:rPr>
              <a:t>4+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7000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Average manual incident response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3708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  <a:latin typeface="Calibri"/>
              </a:rPr>
              <a:t>31%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7000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Average fleet underutilisation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3708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  <a:latin typeface="Calibri"/>
              </a:rPr>
              <a:t>72hrs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47000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Average cold-chain breach detection lag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56032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Chain Guard AI — Autonomous Control Tower for Supply Chain Resilience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73968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Chain Guard AI  |  IBM Bob AI Innovation Hackathon 2026  |  Team Axiom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3657600" cy="160020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898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🌐  Geospatial Disruption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Great-circle Haversine spatial proximity analysis matches active disruptions to shipment corridor waypoints in real-time.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298448"/>
            <a:ext cx="3657600" cy="1600200"/>
          </a:xfrm>
          <a:prstGeom prst="rect">
            <a:avLst/>
          </a:prstGeom>
          <a:solidFill>
            <a:srgbClr val="1E293B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3898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📊  Explainable Risk Scoring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5-factor weighted index evaluates severity, route exposure, deadline pressure, cargo criticality, and thermal sensitivity.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1298448"/>
            <a:ext cx="3657600" cy="1600200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3898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🛣️  Route &amp; Carrier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73736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Multi-objective algorithm balancing 50% risk, 30% transit time, and 20% cost delta across bypass corridor candidates.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27248"/>
            <a:ext cx="3657600" cy="1600200"/>
          </a:xfrm>
          <a:prstGeom prst="rect">
            <a:avLst/>
          </a:prstGeom>
          <a:solidFill>
            <a:srgbClr val="1E293B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2186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🏭  OR-Tools Fleet Redeployment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Google SCIP Mixed-Integer Linear Programming solver assigns idle reefers to distressed shipments under strict cargo constraints.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127248"/>
            <a:ext cx="3657600" cy="1600200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2186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🌡️  Cold-Chain Regulatory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6616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Time-series sensor clustering classifies excursions as NORMAL/WARNING/MAJOR/CRITICAL under FDA 21 CFR 211 and WHO GDP.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3127248"/>
            <a:ext cx="3657600" cy="1600200"/>
          </a:xfrm>
          <a:prstGeom prst="rect">
            <a:avLst/>
          </a:prstGeom>
          <a:solidFill>
            <a:srgbClr val="1E293B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32186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🤖  IBM Bob Operations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56616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Load-bearing AI copilot with access to live operational state. Provides structured decision cards and one-click dispatch triggers.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56032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3-Tier integrated platform with cognitive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73968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Chain Guard AI  |  IBM Bob AI Innovation Hackathon 2026  |  Team Axiom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143000" cy="8412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7" y="13533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682495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87168"/>
            <a:ext cx="1143000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25420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287121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75887"/>
            <a:ext cx="1143000" cy="8412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7" y="3730751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4059935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64608"/>
            <a:ext cx="1143000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7" y="4919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COGNITIVE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524865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IBM Bob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1792224"/>
            <a:ext cx="228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1828800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18653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2980944"/>
            <a:ext cx="228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9264" y="3017520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0540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169663"/>
            <a:ext cx="228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264" y="4206240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2428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1298448"/>
            <a:ext cx="242316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92807" y="1371600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Command Center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92807" y="1719072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React 18 / TypeScript / Vite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1298448"/>
            <a:ext cx="242316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44568" y="1371600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KPI &amp; Status Bar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1719072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Live operational metrics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1298448"/>
            <a:ext cx="242316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96328" y="1371600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Disruption Intelligence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8" y="1719072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Risk matrix &amp; alerts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38359" y="1298448"/>
            <a:ext cx="242316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48087" y="1371600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Route Optimizer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8087" y="1719072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Carrier comparison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83080" y="2487168"/>
            <a:ext cx="242316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892807" y="2560320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REST API Router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92807" y="2907792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Python 3.12 / HTTP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2487168"/>
            <a:ext cx="242316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44568" y="2560320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Disruption Service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44568" y="2907792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Geospatial matching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86600" y="2487168"/>
            <a:ext cx="242316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96328" y="2560320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Fleet 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96328" y="2907792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Asset classification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38359" y="2487168"/>
            <a:ext cx="242316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48087" y="2560320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Bob Client Adapter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48087" y="2907792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watsonx integration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83080" y="3675887"/>
            <a:ext cx="242316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92807" y="3749039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Risk Scoring Engine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92807" y="4096511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0–100 explainable index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34840" y="3675887"/>
            <a:ext cx="242316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44568" y="3749039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Haversine Spatial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44568" y="4096511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Great-circle geometry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86600" y="3675887"/>
            <a:ext cx="242316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96328" y="3749039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OR-Tools SCIP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96328" y="4096511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MILP fleet optimizer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38359" y="3675887"/>
            <a:ext cx="242316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848087" y="3749039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Cold-Chain Classifier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48087" y="4096511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FDA/WHO compliance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783080" y="4864608"/>
            <a:ext cx="10076688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920240" y="4937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🤖  IBM Bob / watsonx Cognitive Engine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52852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Conversational AI reasoning  ·  Structured decision cards  ·  Local deterministic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56032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Risk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Explainable multi-factor index — 0 (Safe) to 100 (Critical)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73968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Chain Guard AI  |  IBM Bob AI Innovation Hackathon 2026  |  Team Axiom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02920" cy="7498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1463039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298448"/>
            <a:ext cx="6400800" cy="749808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136245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Disruption Severity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91639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Proximity to hazard epicenter + magnitude classification (cyclone, flood, strike)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298448"/>
            <a:ext cx="2286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1527048"/>
            <a:ext cx="1962911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35312" y="1536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28%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58568"/>
            <a:ext cx="502920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242316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258568"/>
            <a:ext cx="6400800" cy="749808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2322575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Route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65176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Geometric corridor intersection: shipment waypoints vs. disruption radius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258568"/>
            <a:ext cx="2286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26679" y="2487168"/>
            <a:ext cx="1542287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14688" y="249631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22%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18688"/>
            <a:ext cx="502920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338328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218688"/>
            <a:ext cx="6400800" cy="749808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328269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Deadline Pressure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6118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Dynamic buffer time remaining before SLA penalty trigger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3218688"/>
            <a:ext cx="2286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26679" y="3447288"/>
            <a:ext cx="1261872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34272" y="34564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18%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178808"/>
            <a:ext cx="502920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064" y="434340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4178808"/>
            <a:ext cx="6400800" cy="749808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34440" y="424281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Cargo Criticality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457200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Pharmaceutical biologics, oncology drugs, and high-value freight weighting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4178808"/>
            <a:ext cx="2286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26679" y="4407408"/>
            <a:ext cx="140208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74480" y="4416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20%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138928"/>
            <a:ext cx="502920" cy="7498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2064" y="53035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97280" y="5138928"/>
            <a:ext cx="6400800" cy="749808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34440" y="520293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Cold-Chain Sensitivity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553212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Thermal fragility index — product temperature tolerance range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5138928"/>
            <a:ext cx="2286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726679" y="5367528"/>
            <a:ext cx="841247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13648" y="53766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12%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0" y="1298448"/>
            <a:ext cx="1828800" cy="480060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04120" y="1371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EXAMPLE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04120" y="16824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SHP-PHARMA-303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4120" y="2084831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F4444"/>
                </a:solidFill>
                <a:latin typeface="Calibri"/>
              </a:rPr>
              <a:t>89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4120" y="29077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/ 100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04120" y="3291840"/>
            <a:ext cx="173736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04120" y="33375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⚠ CRITICAL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4120" y="376732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Pharma cargo
Hyderabad→Chennai
Route DIS-ROAD-303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56032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Route &amp; Carrier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Multi-objective trade-off: Risk 50% · Time 30% · Cost 20%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73968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Chain Guard AI  |  IBM Bob AI Innovation Hackathon 2026  |  Team Axiom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560320" cy="457200"/>
          </a:xfrm>
          <a:prstGeom prst="rect">
            <a:avLst/>
          </a:prstGeom>
          <a:solidFill>
            <a:srgbClr val="162133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325880"/>
            <a:ext cx="3200400" cy="457200"/>
          </a:xfrm>
          <a:prstGeom prst="rect">
            <a:avLst/>
          </a:prstGeom>
          <a:solidFill>
            <a:srgbClr val="1E293B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417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BD5E1"/>
                </a:solidFill>
                <a:latin typeface="Calibri"/>
              </a:rPr>
              <a:t>❌ Original Route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325880"/>
            <a:ext cx="3200400" cy="457200"/>
          </a:xfrm>
          <a:prstGeom prst="rect">
            <a:avLst/>
          </a:prstGeom>
          <a:solidFill>
            <a:srgbClr val="1D4ED8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1417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AI Bypass Route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783080"/>
            <a:ext cx="256032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892807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BD5E1"/>
                </a:solidFill>
                <a:latin typeface="Calibri"/>
              </a:rPr>
              <a:t>Risk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783080"/>
            <a:ext cx="320040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46120" y="1892807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F4444"/>
                </a:solidFill>
                <a:latin typeface="Calibri"/>
              </a:rPr>
              <a:t>89/100  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1783080"/>
            <a:ext cx="320040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1892807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24/100  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350008"/>
            <a:ext cx="2560320" cy="530352"/>
          </a:xfrm>
          <a:prstGeom prst="rect">
            <a:avLst/>
          </a:prstGeom>
          <a:solidFill>
            <a:srgbClr val="162133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2459736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BD5E1"/>
                </a:solidFill>
                <a:latin typeface="Calibri"/>
              </a:rPr>
              <a:t>Transit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2350008"/>
            <a:ext cx="3200400" cy="530352"/>
          </a:xfrm>
          <a:prstGeom prst="rect">
            <a:avLst/>
          </a:prstGeom>
          <a:solidFill>
            <a:srgbClr val="162133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46120" y="24597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F4444"/>
                </a:solidFill>
                <a:latin typeface="Calibri"/>
              </a:rPr>
              <a:t>+19h delay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350008"/>
            <a:ext cx="3200400" cy="530352"/>
          </a:xfrm>
          <a:prstGeom prst="rect">
            <a:avLst/>
          </a:prstGeom>
          <a:solidFill>
            <a:srgbClr val="162133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59" y="24597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9.2h saved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916936"/>
            <a:ext cx="256032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3026664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BD5E1"/>
                </a:solidFill>
                <a:latin typeface="Calibri"/>
              </a:rPr>
              <a:t>Cost Delta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2916936"/>
            <a:ext cx="320040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46120" y="30266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F4444"/>
                </a:solidFill>
                <a:latin typeface="Calibri"/>
              </a:rPr>
              <a:t>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2916936"/>
            <a:ext cx="320040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59" y="30266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+8%  ($2,100)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483863"/>
            <a:ext cx="2560320" cy="530352"/>
          </a:xfrm>
          <a:prstGeom prst="rect">
            <a:avLst/>
          </a:prstGeom>
          <a:solidFill>
            <a:srgbClr val="162133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593591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BD5E1"/>
                </a:solidFill>
                <a:latin typeface="Calibri"/>
              </a:rPr>
              <a:t>Carrier SLA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3483863"/>
            <a:ext cx="3200400" cy="530352"/>
          </a:xfrm>
          <a:prstGeom prst="rect">
            <a:avLst/>
          </a:prstGeom>
          <a:solidFill>
            <a:srgbClr val="162133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46120" y="35935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F4444"/>
                </a:solidFill>
                <a:latin typeface="Calibri"/>
              </a:rPr>
              <a:t>Blocked carrier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3483863"/>
            <a:ext cx="3200400" cy="530352"/>
          </a:xfrm>
          <a:prstGeom prst="rect">
            <a:avLst/>
          </a:prstGeom>
          <a:solidFill>
            <a:srgbClr val="162133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59" y="35935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FedEx  98% reliability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050791"/>
            <a:ext cx="256032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416052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BD5E1"/>
                </a:solidFill>
                <a:latin typeface="Calibri"/>
              </a:rPr>
              <a:t>Reefer Cert.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54680" y="4050791"/>
            <a:ext cx="320040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4612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F4444"/>
                </a:solidFill>
                <a:latin typeface="Calibri"/>
              </a:rPr>
              <a:t>N/A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4050791"/>
            <a:ext cx="320040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6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5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✔ Certified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1325880"/>
            <a:ext cx="2176272" cy="4224528"/>
          </a:xfrm>
          <a:prstGeom prst="rect">
            <a:avLst/>
          </a:prstGeom>
          <a:solidFill>
            <a:srgbClr val="1E293B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75520" y="13898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Optimization
Weights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57232" y="1993392"/>
            <a:ext cx="2011680" cy="1051560"/>
          </a:xfrm>
          <a:prstGeom prst="rect">
            <a:avLst/>
          </a:prstGeom>
          <a:solidFill>
            <a:srgbClr val="162133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57232" y="2084832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4444"/>
                </a:solidFill>
                <a:latin typeface="Calibri"/>
              </a:rPr>
              <a:t>50%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57232" y="2615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Risk
Minimization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57232" y="3163824"/>
            <a:ext cx="2011680" cy="1051560"/>
          </a:xfrm>
          <a:prstGeom prst="rect">
            <a:avLst/>
          </a:prstGeom>
          <a:solidFill>
            <a:srgbClr val="162133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857232" y="3255264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Calibri"/>
              </a:rPr>
              <a:t>30%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7232" y="378561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Transit
Time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57232" y="4334256"/>
            <a:ext cx="2011680" cy="1051560"/>
          </a:xfrm>
          <a:prstGeom prst="rect">
            <a:avLst/>
          </a:prstGeom>
          <a:solidFill>
            <a:srgbClr val="162133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857232" y="442569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20%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57232" y="49560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Cost
Delta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572000"/>
            <a:ext cx="9144000" cy="658368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5800" y="468172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0B981"/>
                </a:solidFill>
                <a:latin typeface="Calibri"/>
              </a:rPr>
              <a:t>✅  19 Hours Saved  ·  Risk Reduced 74%  ·  Zero Route Conflict  ·  FedEx 98% SLA Guaranteed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56032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Fleet Utilisation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Google OR-Tools SCIP — Mixed-Integer Linear Programming (MILP)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73968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Chain Guard AI  |  IBM Bob AI Innovation Hackathon 2026  |  Team Axiom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36576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  <a:latin typeface="Calibri"/>
              </a:rPr>
              <a:t>❌  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1051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F4444"/>
                </a:solidFill>
                <a:latin typeface="Calibri"/>
              </a:rPr>
              <a:t>68.5%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Fleet Utilisation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2 idle reefer trucks
3 underutilised assets
Zero automated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2860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325880"/>
            <a:ext cx="36576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✅  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1051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10B981"/>
                </a:solidFill>
                <a:latin typeface="Calibri"/>
              </a:rPr>
              <a:t>89.4%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72491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Fleet Utilisation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08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+30.9% improvement
FLT-REEFER-01 dispatched
Zero equipment mismatches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325880"/>
            <a:ext cx="2999232" cy="2926080"/>
          </a:xfrm>
          <a:prstGeom prst="rect">
            <a:avLst/>
          </a:prstGeom>
          <a:solidFill>
            <a:srgbClr val="1E293B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13898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  <a:latin typeface="Calibri"/>
              </a:rPr>
              <a:t>SCIP 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87451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✔  Reefer certification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331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✔  Payload ≤ vehicle capacity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788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✔  Minimise deadhead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3246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✔  Cold-chain temperature rating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3703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✔  Real-time asset availability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407408"/>
            <a:ext cx="11173968" cy="713232"/>
          </a:xfrm>
          <a:prstGeom prst="rect">
            <a:avLst/>
          </a:prstGeom>
          <a:solidFill>
            <a:srgbClr val="1E293B"/>
          </a:solidFill>
          <a:ln w="76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50799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🔬  Mathematical Solver: Google OR-Tools SCIP  ·  Optimal global assignment, not greedy heuristic  ·  Guaranteed constraint satisfaction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56032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Cold-Chain Telemetry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FDA 21 CFR Part 211  ·  WHO Good Distribution Practice (GDP)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73968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Chain Guard AI  |  IBM Bob AI Innovation Hackathon 2026  |  Team Axiom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371600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7" y="135331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7190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✔ Compliant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298448"/>
            <a:ext cx="5303520" cy="713232"/>
          </a:xfrm>
          <a:prstGeom prst="rect">
            <a:avLst/>
          </a:prstGeom>
          <a:solidFill>
            <a:srgbClr val="1E293B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03120" y="138988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2°C – 8°C maintained throughout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12848"/>
            <a:ext cx="1371600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7" y="226771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6334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⚠ Investigate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2212848"/>
            <a:ext cx="5303520" cy="713232"/>
          </a:xfrm>
          <a:prstGeom prst="rect">
            <a:avLst/>
          </a:prstGeom>
          <a:solidFill>
            <a:srgbClr val="1E293B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03120" y="230428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Minor excursion &lt; 30 minutes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27248"/>
            <a:ext cx="1371600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7" y="318211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MAJOR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35478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🔶 SOP Required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3127248"/>
            <a:ext cx="5303520" cy="713232"/>
          </a:xfrm>
          <a:prstGeom prst="rect">
            <a:avLst/>
          </a:prstGeom>
          <a:solidFill>
            <a:srgbClr val="1E293B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03120" y="321868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Excursion 30–60 minutes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041648"/>
            <a:ext cx="1371600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409651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44622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🚨 Quarantine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4041648"/>
            <a:ext cx="5303520" cy="713232"/>
          </a:xfrm>
          <a:prstGeom prst="rect">
            <a:avLst/>
          </a:prstGeom>
          <a:solidFill>
            <a:srgbClr val="1E293B"/>
          </a:solidFill>
          <a:ln w="508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03120" y="4133087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Excursion &gt; 60 min / &gt; 5°C dev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1298448"/>
            <a:ext cx="4709160" cy="3639312"/>
          </a:xfrm>
          <a:prstGeom prst="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137160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  <a:latin typeface="Calibri"/>
              </a:rPr>
              <a:t>🚨 CRITICAL EXCURSION DETECTED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182880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Shipment: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82880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SHP-PHARMA-303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226771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Peak Temp: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2677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Calibri"/>
              </a:rPr>
              <a:t>14.8°C  (+6.8°C above threshold)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70662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Duration: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70662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140 minutes of excursion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14553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Severity: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14553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Calibri"/>
              </a:rPr>
              <a:t>CRITICAL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3602736"/>
            <a:ext cx="43891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43800" y="3675887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Automated SOPs Triggered: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005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1. Dispatch nearest backup reefer truck (FLT-REEFER-01)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315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2. Trigger QA regulatory hold notification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62686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3. Inspect refrigeration unit / compressor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102352"/>
            <a:ext cx="6766560" cy="640080"/>
          </a:xfrm>
          <a:prstGeom prst="rect">
            <a:avLst/>
          </a:prstGeom>
          <a:solidFill>
            <a:srgbClr val="1E293B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5212080"/>
            <a:ext cx="6492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59E0B"/>
                </a:solidFill>
                <a:latin typeface="Calibri"/>
              </a:rPr>
              <a:t>Zero Pharmaceutical Spoilage  ·  Automated within 30 seconds of breach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56032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IBM Bob Operations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Load-bearing AI — embedded into live operational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73968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Chain Guard AI  |  IBM Bob AI Innovation Hackathon 2026  |  Team Axiom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389120" cy="1115568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89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🔗  Context-Aware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Ingests live hazards, thermal breaches, idle fleet, and route alternatives from 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4389120" cy="1115568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💬  Natural Language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2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Answers complex operator queries in plain English with structured data backing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22191"/>
            <a:ext cx="4389120" cy="1115568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91363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🃏  Decision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61104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Returns priority, root cause, recommended action, projected impact, and dispatch trigger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84064"/>
            <a:ext cx="4389120" cy="1115568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17550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🔄  Dual-Mode Resilient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22975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Live IBM watsonx when BOB_API_KEY set; deterministic local AI fallback when offline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298448"/>
            <a:ext cx="6656832" cy="4773168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800" y="13716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🤖  IBM Bob Operations Copilot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719072"/>
            <a:ext cx="665683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20" y="1847088"/>
            <a:ext cx="4480560" cy="502920"/>
          </a:xfrm>
          <a:prstGeom prst="rect">
            <a:avLst/>
          </a:prstGeom>
          <a:solidFill>
            <a:srgbClr val="1D4ED8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69480" y="19202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👤  "Why is SHP-1002 critical?"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0368" y="2468880"/>
            <a:ext cx="6035040" cy="2148840"/>
          </a:xfrm>
          <a:prstGeom prst="rect">
            <a:avLst/>
          </a:prstGeom>
          <a:solidFill>
            <a:srgbClr val="162133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49240" y="2542032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🤖  SHP-1002 (Pharma | Mumbai → Delhi) scores 87/100 CRITICAL.
• DIS-WEATHER-002 (Severe Cyclone) intersects NH-44 corridor.
• Cold-chain sensor at 11.4°C — 3.4°C above threshold.
• Deadline buffer: 2.1 hours until SLA penalty.
RECOMMENDED ACTION:
  → Reroute via NH-48 bypass (saves 14h)
  → Dispatch FLT-REEFER-03 (240 km, idle)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4709160"/>
            <a:ext cx="4480560" cy="502920"/>
          </a:xfrm>
          <a:prstGeom prst="rect">
            <a:avLst/>
          </a:prstGeom>
          <a:solidFill>
            <a:srgbClr val="1D4ED8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69480" y="47731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👤  "Execute dispatch now"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0368" y="5285232"/>
            <a:ext cx="60350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9240" y="53492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✅  Dispatch triggered — FLT-REEFER-03 en-route. ETA: 3h 45min.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56032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Measurable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Verified across 8 operational scenarios · 56 tests passing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73968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Chain Guard AI  |  IBM Bob AI Innovation Hackathon 2026  |  Team Axiom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274320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B82F6"/>
                </a:solidFill>
                <a:latin typeface="Calibri"/>
              </a:rPr>
              <a:t>19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15184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Delay eliminated
per disrupted 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298448"/>
            <a:ext cx="274320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90195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  <a:latin typeface="Calibri"/>
              </a:rPr>
              <a:t>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615184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Pharmaceutical thermal
spoilage incidents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298448"/>
            <a:ext cx="274320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0195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  <a:latin typeface="Calibri"/>
              </a:rPr>
              <a:t>+30.9%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15184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Fleet utilisation
improvement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1298448"/>
            <a:ext cx="274320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90195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8B5CF6"/>
                </a:solidFill>
                <a:latin typeface="Calibri"/>
              </a:rPr>
              <a:t>30 sec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15184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Incident resolution
vs. 4+ hours manual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822191"/>
            <a:ext cx="11173968" cy="685800"/>
          </a:xfrm>
          <a:prstGeom prst="rect">
            <a:avLst/>
          </a:prstGeom>
          <a:solidFill>
            <a:srgbClr val="1E293B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931920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56 Tests Passing  ·  27 Backend  ·  29 AI Unit  ·  8 Scenarios Verified  ·  1596 Frontend Modules Built  ·  Production-Ready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63440"/>
            <a:ext cx="11173968" cy="804672"/>
          </a:xfrm>
          <a:prstGeom prst="rect">
            <a:avLst/>
          </a:prstGeom>
          <a:solidFill>
            <a:srgbClr val="1D4ED8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727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🚀  LIVE DEMO — Run from repository root: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4727448"/>
            <a:ext cx="5669280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97880" y="4818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python -m src.ai.run_demo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596128"/>
            <a:ext cx="11173968" cy="658368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70585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Chain Guard AI  ·  Team Axiom  ·  IBM Bob AI Innovation Hackathon 2026  ·  Branch: feature/ai-optimization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1324</Words>
  <Application>Microsoft Office PowerPoint</Application>
  <PresentationFormat>Custom</PresentationFormat>
  <Paragraphs>230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Mahi Patel</cp:lastModifiedBy>
  <cp:revision>2</cp:revision>
  <dcterms:created xsi:type="dcterms:W3CDTF">2013-01-27T09:14:16Z</dcterms:created>
  <dcterms:modified xsi:type="dcterms:W3CDTF">2026-09-15T18:01:00Z</dcterms:modified>
  <cp:category/>
</cp:coreProperties>
</file>